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6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3F8A87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5760720"/>
            <a:ext cx="4023360" cy="4023360"/>
          </a:xfrm>
          <a:prstGeom prst="ellipse">
            <a:avLst/>
          </a:prstGeom>
          <a:solidFill>
            <a:srgbClr val="3F8A87"/>
          </a:solidFill>
          <a:ln/>
        </p:spPr>
      </p:sp>
      <p:pic>
        <p:nvPicPr>
          <p:cNvPr id="4" name="Image 0" descr="/home/claude/eu_dezinfo/d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1051560" cy="1051560"/>
          </a:xfrm>
          <a:prstGeom prst="rect">
            <a:avLst/>
          </a:prstGeom>
          <a:effectLst>
            <a:outerShdw sx="100000" sy="100000" kx="0" ky="0" algn="bl" rotWithShape="0" blurRad="127000" dist="50800" dir="5400000">
              <a:srgbClr val="0A2620">
                <a:alpha val="3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640080" y="1737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EURÓPSKA KOMISIA · 2026 · AKTUALIZOVANÉ VYDANIE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21945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Usmernenia pre učiteľov a pedagógov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310896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Boj proti dezinformáciám a podpora digitálnej gramotnosti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9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prostredníctvom vzdelávania a odbornej prípravy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58368" y="4297680"/>
            <a:ext cx="2011680" cy="0"/>
          </a:xfrm>
          <a:prstGeom prst="line">
            <a:avLst/>
          </a:prstGeom>
          <a:noFill/>
          <a:ln w="25400">
            <a:solidFill>
              <a:srgbClr val="E0A45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52628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Zhrnutie kľúčového obsahu dokumentu Európskej komisie (GR pre vzdelávanie, mládež, šport a kultúru) — pripravila Digitálny Kabinet, o.z.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6172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Rukopis dokončený v januári 2026  ·  Publikácia: Úrad pre vydávanie publikácií EÚ  ·  Licencia CC BY 4.0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Prečo tieto usmernenia vznikli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3093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Mladí Európania žijú vo svete, kde sa hranica medzi pravdivými a falošnými informáciami čoraz viac stiera. Generatívna umelá inteligencia, deepfake obsah a influenceri na sociálnych sieťach priamo ovplyvňujú dôveru, hodnoty a svetonázor mladých ľudí. Usmernenia (prvýkrát z roku 2022) boli v roku 2026 aktualizované o nový obsah týkajúci sa AI, sociálnych médií a prebunkingu – teda predbežného vyvracania mýtov a manipulatívnych techník ešte pred tým, než sa s nimi žiaci stretnú.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406908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Cieľová skupina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6309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Učitelia a pedagógovia základných a stredných škôl (primárne)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Vedúci pracovníci škôl a tvorcovia politík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Rodičia, opatrovatelia a širšia školská komunita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406640" y="169164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AE4"/>
            </a:solidFill>
            <a:prstDash val="solid"/>
          </a:ln>
          <a:effectLst>
            <a:outerShdw sx="100000" sy="100000" kx="0" ky="0" algn="bl" rotWithShape="0" blurRad="101600" dist="38100" dir="5400000">
              <a:srgbClr val="2D6B6B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635240" y="185623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9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635240" y="24688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Európanov si myslí, že digitálna gramotnosť chráni pred dezinformáciami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06640" y="338328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AE4"/>
            </a:solidFill>
            <a:prstDash val="solid"/>
          </a:ln>
          <a:effectLst>
            <a:outerShdw sx="100000" sy="100000" kx="0" ky="0" algn="bl" rotWithShape="0" blurRad="101600" dist="38100" dir="5400000">
              <a:srgbClr val="2D6B6B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635240" y="354787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9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89 %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635240" y="41605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myslí, že všetci učitelia by mali vedieť pomôcť žiakom rozpoznať dezinformácie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406640" y="51663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FA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Zdroj: Rýchly prieskum Eurobarometra 2025 o budúcich potrebách v digitálnom vzdelávaní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Digitálny Kabinet  ·  Zhrnutie usmernení EK proti dezinformáciám (2026)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PREHĽAD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Štruktúra usmernení — 12 oblastí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FAF6E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64792"/>
            <a:ext cx="457200" cy="457200"/>
          </a:xfrm>
          <a:prstGeom prst="ellipse">
            <a:avLst/>
          </a:prstGeom>
          <a:solidFill>
            <a:srgbClr val="4A9B9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69164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Predslov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600200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FAF6EF"/>
          </a:solidFill>
          <a:ln/>
        </p:spPr>
      </p:sp>
      <p:sp>
        <p:nvSpPr>
          <p:cNvPr id="9" name="Shape 7"/>
          <p:cNvSpPr/>
          <p:nvPr/>
        </p:nvSpPr>
        <p:spPr>
          <a:xfrm>
            <a:off x="4489704" y="1764792"/>
            <a:ext cx="457200" cy="457200"/>
          </a:xfrm>
          <a:prstGeom prst="ellipse">
            <a:avLst/>
          </a:prstGeom>
          <a:solidFill>
            <a:srgbClr val="4A9B9B"/>
          </a:solidFill>
          <a:ln/>
        </p:spPr>
      </p:sp>
      <p:sp>
        <p:nvSpPr>
          <p:cNvPr id="10" name="Text 8"/>
          <p:cNvSpPr/>
          <p:nvPr/>
        </p:nvSpPr>
        <p:spPr>
          <a:xfrm>
            <a:off x="4489704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56632" y="169164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Úvod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01584" y="1600200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FAF6EF"/>
          </a:solidFill>
          <a:ln/>
        </p:spPr>
      </p:sp>
      <p:sp>
        <p:nvSpPr>
          <p:cNvPr id="13" name="Shape 11"/>
          <p:cNvSpPr/>
          <p:nvPr/>
        </p:nvSpPr>
        <p:spPr>
          <a:xfrm>
            <a:off x="8266176" y="1764792"/>
            <a:ext cx="457200" cy="457200"/>
          </a:xfrm>
          <a:prstGeom prst="ellipse">
            <a:avLst/>
          </a:prstGeom>
          <a:solidFill>
            <a:srgbClr val="4A9B9B"/>
          </a:solidFill>
          <a:ln/>
        </p:spPr>
      </p:sp>
      <p:sp>
        <p:nvSpPr>
          <p:cNvPr id="14" name="Text 12"/>
          <p:cNvSpPr/>
          <p:nvPr/>
        </p:nvSpPr>
        <p:spPr>
          <a:xfrm>
            <a:off x="8266176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833104" y="169164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Použitie usmernení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816352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FAF6EF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2980944"/>
            <a:ext cx="457200" cy="457200"/>
          </a:xfrm>
          <a:prstGeom prst="ellipse">
            <a:avLst/>
          </a:prstGeom>
          <a:solidFill>
            <a:srgbClr val="4A9B9B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2980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2907792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Situácia v triede a škole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25112" y="2816352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FAF6EF"/>
          </a:solidFill>
          <a:ln/>
        </p:spPr>
      </p:sp>
      <p:sp>
        <p:nvSpPr>
          <p:cNvPr id="21" name="Shape 19"/>
          <p:cNvSpPr/>
          <p:nvPr/>
        </p:nvSpPr>
        <p:spPr>
          <a:xfrm>
            <a:off x="4489704" y="2980944"/>
            <a:ext cx="457200" cy="457200"/>
          </a:xfrm>
          <a:prstGeom prst="ellipse">
            <a:avLst/>
          </a:prstGeom>
          <a:solidFill>
            <a:srgbClr val="4A9B9B"/>
          </a:solidFill>
          <a:ln/>
        </p:spPr>
      </p:sp>
      <p:sp>
        <p:nvSpPr>
          <p:cNvPr id="22" name="Text 20"/>
          <p:cNvSpPr/>
          <p:nvPr/>
        </p:nvSpPr>
        <p:spPr>
          <a:xfrm>
            <a:off x="4489704" y="2980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56632" y="2907792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Budovanie digitálnej gramotnosti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01584" y="2816352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FAF6EF"/>
          </a:solidFill>
          <a:ln/>
        </p:spPr>
      </p:sp>
      <p:sp>
        <p:nvSpPr>
          <p:cNvPr id="25" name="Shape 23"/>
          <p:cNvSpPr/>
          <p:nvPr/>
        </p:nvSpPr>
        <p:spPr>
          <a:xfrm>
            <a:off x="8266176" y="2980944"/>
            <a:ext cx="457200" cy="457200"/>
          </a:xfrm>
          <a:prstGeom prst="ellipse">
            <a:avLst/>
          </a:prstGeom>
          <a:solidFill>
            <a:srgbClr val="4A9B9B"/>
          </a:solidFill>
          <a:ln/>
        </p:spPr>
      </p:sp>
      <p:sp>
        <p:nvSpPr>
          <p:cNvPr id="26" name="Text 24"/>
          <p:cNvSpPr/>
          <p:nvPr/>
        </p:nvSpPr>
        <p:spPr>
          <a:xfrm>
            <a:off x="8266176" y="2980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833104" y="2907792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Dezinformácie: o čo ide?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032504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2D6B6B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" y="4197096"/>
            <a:ext cx="457200" cy="457200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4197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80160" y="4123944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Generatívna AI a dezinformácie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325112" y="4032504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2D6B6B"/>
          </a:solidFill>
          <a:ln/>
        </p:spPr>
      </p:sp>
      <p:sp>
        <p:nvSpPr>
          <p:cNvPr id="33" name="Shape 31"/>
          <p:cNvSpPr/>
          <p:nvPr/>
        </p:nvSpPr>
        <p:spPr>
          <a:xfrm>
            <a:off x="4489704" y="4197096"/>
            <a:ext cx="457200" cy="457200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34" name="Text 32"/>
          <p:cNvSpPr/>
          <p:nvPr/>
        </p:nvSpPr>
        <p:spPr>
          <a:xfrm>
            <a:off x="4489704" y="4197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056632" y="4123944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Sociálne médiá a influenceri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101584" y="4032504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2D6B6B"/>
          </a:solidFill>
          <a:ln/>
        </p:spPr>
      </p:sp>
      <p:sp>
        <p:nvSpPr>
          <p:cNvPr id="37" name="Shape 35"/>
          <p:cNvSpPr/>
          <p:nvPr/>
        </p:nvSpPr>
        <p:spPr>
          <a:xfrm>
            <a:off x="8266176" y="4197096"/>
            <a:ext cx="457200" cy="457200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38" name="Text 36"/>
          <p:cNvSpPr/>
          <p:nvPr/>
        </p:nvSpPr>
        <p:spPr>
          <a:xfrm>
            <a:off x="8266176" y="4197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833104" y="4123944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Prebunking – predbežné vyvracanie mýtov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48640" y="5248656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FAF6EF"/>
          </a:solidFill>
          <a:ln/>
        </p:spPr>
      </p:sp>
      <p:sp>
        <p:nvSpPr>
          <p:cNvPr id="41" name="Shape 39"/>
          <p:cNvSpPr/>
          <p:nvPr/>
        </p:nvSpPr>
        <p:spPr>
          <a:xfrm>
            <a:off x="713232" y="5413248"/>
            <a:ext cx="457200" cy="457200"/>
          </a:xfrm>
          <a:prstGeom prst="ellipse">
            <a:avLst/>
          </a:prstGeom>
          <a:solidFill>
            <a:srgbClr val="4A9B9B"/>
          </a:solidFill>
          <a:ln/>
        </p:spPr>
      </p:sp>
      <p:sp>
        <p:nvSpPr>
          <p:cNvPr id="42" name="Text 40"/>
          <p:cNvSpPr/>
          <p:nvPr/>
        </p:nvSpPr>
        <p:spPr>
          <a:xfrm>
            <a:off x="713232" y="5413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280160" y="5340096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Posudzovanie digitálnej gramotnosti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4325112" y="5248656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2D6B6B"/>
          </a:solidFill>
          <a:ln/>
        </p:spPr>
      </p:sp>
      <p:sp>
        <p:nvSpPr>
          <p:cNvPr id="45" name="Shape 43"/>
          <p:cNvSpPr/>
          <p:nvPr/>
        </p:nvSpPr>
        <p:spPr>
          <a:xfrm>
            <a:off x="4489704" y="5413248"/>
            <a:ext cx="457200" cy="457200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46" name="Text 44"/>
          <p:cNvSpPr/>
          <p:nvPr/>
        </p:nvSpPr>
        <p:spPr>
          <a:xfrm>
            <a:off x="4489704" y="5413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5056632" y="5340096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Odporúčania pre vedenie škôl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8101584" y="5248656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2D6B6B"/>
          </a:solidFill>
          <a:ln/>
        </p:spPr>
      </p:sp>
      <p:sp>
        <p:nvSpPr>
          <p:cNvPr id="49" name="Shape 47"/>
          <p:cNvSpPr/>
          <p:nvPr/>
        </p:nvSpPr>
        <p:spPr>
          <a:xfrm>
            <a:off x="8266176" y="5413248"/>
            <a:ext cx="457200" cy="457200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50" name="Text 48"/>
          <p:cNvSpPr/>
          <p:nvPr/>
        </p:nvSpPr>
        <p:spPr>
          <a:xfrm>
            <a:off x="8266176" y="5413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8833104" y="5340096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 a plány hodín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A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nové oblasti / rozšírený obsah v aktualizácii 2026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Digitálny Kabinet  ·  Zhrnutie usmernení EK proti dezinformáciám (2026)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NOVINKY VYDANIA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 nové kľúčové témy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2D6B6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731520" cy="731520"/>
          </a:xfrm>
          <a:prstGeom prst="roundRect">
            <a:avLst>
              <a:gd name="adj" fmla="val 18750"/>
            </a:avLst>
          </a:prstGeom>
          <a:solidFill>
            <a:srgbClr val="E0A45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Generatívna AI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 AI vytvára aj odhaľuje dezinformácie; halucinácie; kompetencie učiteľov v oblasti AI gramotnosti.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3F8A87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2011680"/>
            <a:ext cx="731520" cy="731520"/>
          </a:xfrm>
          <a:prstGeom prst="roundRect">
            <a:avLst>
              <a:gd name="adj" fmla="val 18750"/>
            </a:avLst>
          </a:prstGeom>
          <a:solidFill>
            <a:srgbClr val="E0A458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09160" y="292608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Sociálne médiá a influenceri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09160" y="365760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 platformy formujú obsah, ktorý žiaci vidia, a akú úlohu zohrávajú influenceri pri šírení dôvery aj dezinformácií.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69164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6FAFA6"/>
          </a:solidFill>
          <a:ln/>
        </p:spPr>
      </p:sp>
      <p:sp>
        <p:nvSpPr>
          <p:cNvPr id="15" name="Shape 13"/>
          <p:cNvSpPr/>
          <p:nvPr/>
        </p:nvSpPr>
        <p:spPr>
          <a:xfrm>
            <a:off x="8549640" y="2011680"/>
            <a:ext cx="731520" cy="731520"/>
          </a:xfrm>
          <a:prstGeom prst="roundRect">
            <a:avLst>
              <a:gd name="adj" fmla="val 18750"/>
            </a:avLst>
          </a:prstGeom>
          <a:solidFill>
            <a:srgbClr val="E0A458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549640" y="292608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Prebunking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549640" y="365760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Technika včasného varovania pred manipulatívnymi technikami — budovanie odolnosti skôr, než sa žiaci s dezinformáciou stretnú.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Digitálny Kabinet  ·  Zhrnutie usmernení EK proti dezinformáciám (2026)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PRÍPRAVA VÝUČBY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Vytvorenie bezpečného priestoru na diskusiu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 aktivitami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5394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Osloviť vedenie školy, rodičov a v prípade potreby školského psychológa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Spoznať mediálne návyky a digitálnu gramotnosť triedy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Vytvoriť triednu dohodu — jasné očakávania, dôsledky, hranice dôvernosti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Začať menej kontroverznými témami, postupne prehlbovať diskusiu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72200" y="1737360"/>
            <a:ext cx="0" cy="4206240"/>
          </a:xfrm>
          <a:prstGeom prst="line">
            <a:avLst/>
          </a:prstGeom>
          <a:noFill/>
          <a:ln w="19050">
            <a:solidFill>
              <a:srgbClr val="DCEA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600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4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Citlivé témy vyžadujúce opatrnosť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2057400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F7E6D9"/>
          </a:solidFill>
          <a:ln w="12700">
            <a:solidFill>
              <a:srgbClr val="EAC7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0528" y="2057400"/>
            <a:ext cx="2295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Polarizácia a kultúra rušenia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098280" y="2057400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F7E6D9"/>
          </a:solidFill>
          <a:ln w="12700">
            <a:solidFill>
              <a:srgbClr val="EAC7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08008" y="2057400"/>
            <a:ext cx="2295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Migrácia, menšiny, rasizmus, náboženstvo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2724912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F7E6D9"/>
          </a:solidFill>
          <a:ln w="12700">
            <a:solidFill>
              <a:srgbClr val="EAC7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0528" y="2724912"/>
            <a:ext cx="2295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Rodová a pohlavná rozmanitosť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98280" y="2724912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F7E6D9"/>
          </a:solidFill>
          <a:ln w="12700">
            <a:solidFill>
              <a:srgbClr val="EAC7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08008" y="2724912"/>
            <a:ext cx="2295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Diskriminácia na internete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0" y="3392424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F7E6D9"/>
          </a:solidFill>
          <a:ln w="12700">
            <a:solidFill>
              <a:srgbClr val="EAC7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3392424"/>
            <a:ext cx="2295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Zmena klímy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98280" y="3392424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F7E6D9"/>
          </a:solidFill>
          <a:ln w="12700">
            <a:solidFill>
              <a:srgbClr val="EAC7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08008" y="3392424"/>
            <a:ext cx="2295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Kolonializmus, holokaust, antisemitizmus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0" y="4754880"/>
            <a:ext cx="5212080" cy="1097280"/>
          </a:xfrm>
          <a:prstGeom prst="rect">
            <a:avLst/>
          </a:prstGeom>
          <a:solidFill>
            <a:srgbClr val="FAF6E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Prejavte empatiu — žiaci, ktorí priznajú, že veria dezinformácii, riskujú vystavenie kritike. Pomôže, ak najprv hovoria o „niekom, koho poznajú“.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Digitálny Kabinet  ·  Zhrnutie usmernení EK proti dezinformáciám (2026)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6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DIGITÁLNA GRAMOTNOSŤ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Čo je digitálne občianstvo?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9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Digitálna gramotnosť znamená vedieť, ako bezpečným a primeraným spôsobom získavať, chápať, vytvárať, hodnotiť a šíriť informácie pomocou digitálnych technológií.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246888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Bezpečne, kriticky a zodpovedne existujú vo svete internetu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172968"/>
            <a:ext cx="384048" cy="384048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172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3127248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Využívajú prínosy internetu a sú odolní voči jeho škodlivým stránkam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831336"/>
            <a:ext cx="384048" cy="384048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8313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3785616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Podporujú aktívne občianstvo, spoluprácu a kreativitu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9704"/>
            <a:ext cx="384048" cy="384048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97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4443984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Poznajú kľúčové ľudské práva online aj offline (súkromie, sloboda prejavu, dôstojnosť)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148072"/>
            <a:ext cx="384048" cy="384048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148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510235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Majú zodpovedný, zdravý a vyvážený prístup k technológiám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Digitálny Kabinet  ·  Zhrnutie usmernení EK proti dezinformáciám (2026)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KĽÚČOVÉ POJMY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Misinformácie, dezinformácie, škodlivé informácie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CEAE4"/>
            </a:solidFill>
            <a:prstDash val="solid"/>
          </a:ln>
          <a:effectLst>
            <a:outerShdw sx="100000" sy="100000" kx="0" ky="0" algn="bl" rotWithShape="0" blurRad="127000" dist="38100" dir="5400000">
              <a:srgbClr val="2D6B6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4A9B9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060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9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Misinformácie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30632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Overiteľne nesprávne informácie šírené bez zámeru zavádzať — pôvodca ich sám považuje za pravdivé.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69164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CEAE4"/>
            </a:solidFill>
            <a:prstDash val="solid"/>
          </a:ln>
          <a:effectLst>
            <a:outerShdw sx="100000" sy="100000" kx="0" ky="0" algn="bl" rotWithShape="0" blurRad="127000" dist="38100" dir="5400000">
              <a:srgbClr val="2D6B6B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2011680"/>
            <a:ext cx="457200" cy="457200"/>
          </a:xfrm>
          <a:prstGeom prst="ellipse">
            <a:avLst/>
          </a:prstGeom>
          <a:solidFill>
            <a:srgbClr val="2D6B6B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26060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Dezinformácie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63440" y="3291840"/>
            <a:ext cx="30632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Overiteľne nepravdivé alebo zavádzajúce informácie vytvorené a šírené zámerne — pre zisk alebo s cieľom zavádzať.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169164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CEAE4"/>
            </a:solidFill>
            <a:prstDash val="solid"/>
          </a:ln>
          <a:effectLst>
            <a:outerShdw sx="100000" sy="100000" kx="0" ky="0" algn="bl" rotWithShape="0" blurRad="127000" dist="38100" dir="5400000">
              <a:srgbClr val="2D6B6B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03920" y="2011680"/>
            <a:ext cx="457200" cy="457200"/>
          </a:xfrm>
          <a:prstGeom prst="ellipse">
            <a:avLst/>
          </a:prstGeom>
          <a:solidFill>
            <a:srgbClr val="8C4620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26060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C4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Škodlivé informácie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503920" y="3291840"/>
            <a:ext cx="30632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Fakticky správne informácie, ktoré sú použité škodlivým spôsobom (napr. mimo kontextu).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Digitálny Kabinet  ·  Zhrnutie usmernení EK proti dezinformáciám (2026)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ROZPOZNÁVANIE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Typické vlastnosti dezinformácií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46504"/>
            <a:ext cx="128016" cy="128016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1848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Pôsobia na city — sťažujú logické a kritické myslenie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23744"/>
            <a:ext cx="128016" cy="128016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9572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Vytvárajú konflikt „my proti nim“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300984"/>
            <a:ext cx="128016" cy="128016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17296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Zjednodušujú fakty, opakujú tú istú myšlienku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078224"/>
            <a:ext cx="128016" cy="128016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95020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Manipulujú s obrázkami a videami (aj pomocou AI)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855464"/>
            <a:ext cx="128016" cy="128016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72744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Využívajú dôveryhodné osobnosti a celebrity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1746504"/>
            <a:ext cx="128016" cy="128016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61848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Sú odolné voči dôkazom, ktoré ich vyvracajú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2523744"/>
            <a:ext cx="128016" cy="128016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39572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Skrývajú sa za neškodným obsahom (vtipy, zvieratká)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3300984"/>
            <a:ext cx="128016" cy="128016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317296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Používajú clickbait titulky a botov na zvýšenie dosahu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4078224"/>
            <a:ext cx="128016" cy="128016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95020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Vytvárajú falošných „odborníkov“ a zdroje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72200" y="4855464"/>
            <a:ext cx="128016" cy="128016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472744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Čoraz častejšie využívajú deepfakes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Digitálny Kabinet  ·  Zhrnutie usmernení EK proti dezinformáciám (2026)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PSYCHOLÓGIA DEZINFORMÁCIÍ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Prečo im mladí ľudia veria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Potreba niekam patriť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Ochota ignorovať dôkazy v záujme skupinovej identity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25112" y="16916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3712" y="187452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Konfirmačné skreslenie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53712" y="251460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Hľadanie potvrdenia existujúcich presvedčení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01584" y="16916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30184" y="187452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Efekt falošného konsenzu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30184" y="251460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Preceňovanie počtu ľudí so zhodným názorom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84048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Stádový efekt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77240" y="448056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Nasledovanie presvedčenia, lebo ho zdieľajú aj ostatní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25112" y="365760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A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384048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Naivný realizmus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53712" y="448056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Presvedčenie, že iba ja som objektívny a nezaujatý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01584" y="365760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A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0184" y="384048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Efekt pretrvávajúceho vplyvu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30184" y="448056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Vyvrátená informácia naďalej ovplyvňuje úsudok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Digitálny Kabinet  ·  Zhrnutie usmernení EK proti dezinformáciám (2026)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6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NOVÁ TÉMA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Generatívna AI a dezinformácie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Prečo AI môže zavádzať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394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C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Jazykové modely sa trénujú na internetových dátach, ktoré môžu byť nespoľahlivé či neobjektívne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C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„nerozumie“ obsahu — predpovedá ďalšie slovo, nie pravdu → hrozia „halucinácie“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C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Nejasné alebo zle formulované príkazy vedú k nepresným výstupom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72200" y="1691640"/>
            <a:ext cx="0" cy="4297680"/>
          </a:xfrm>
          <a:prstGeom prst="line">
            <a:avLst/>
          </a:prstGeom>
          <a:noFill/>
          <a:ln w="19050">
            <a:solidFill>
              <a:srgbClr val="3F8A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554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Zásada pre učiteľov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1965960"/>
            <a:ext cx="5212080" cy="1554480"/>
          </a:xfrm>
          <a:prstGeom prst="roundRect">
            <a:avLst>
              <a:gd name="adj" fmla="val 5882"/>
            </a:avLst>
          </a:prstGeom>
          <a:solidFill>
            <a:srgbClr val="3F8A87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21488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„Skreslenie pri vstupe, skreslenie pri výstupe“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29400" y="26974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Vždy overujte výstupy generatívnej AI podľa dôveryhodných zdrojov skôr, než ich zdieľate alebo použijete vo výučbe.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0" y="37033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Otázky pre žiakov pri práci s AI: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406908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›"/>
            </a:pPr>
            <a:r>
              <a:rPr lang="en-US" sz="1250" i="1" dirty="0">
                <a:solidFill>
                  <a:srgbClr val="D9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Kto vytvoril tento obsah?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›"/>
            </a:pPr>
            <a:r>
              <a:rPr lang="en-US" sz="1250" i="1" dirty="0">
                <a:solidFill>
                  <a:srgbClr val="D9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Aké sú dôkazy?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›"/>
            </a:pPr>
            <a:r>
              <a:rPr lang="en-US" sz="1250" i="1" dirty="0">
                <a:solidFill>
                  <a:srgbClr val="D9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Môže to byť skreslené?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›"/>
            </a:pPr>
            <a:r>
              <a:rPr lang="en-US" sz="1250" i="1" dirty="0">
                <a:solidFill>
                  <a:srgbClr val="D9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Čo hovoria iné zdroje?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Digitálny Kabinet  ·  Zhrnutie usmernení EK proti dezinformáciám (2026)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928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PROFESIJNÝ ROZVOJ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kompetencie, ktoré potrebujú učitelia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AF6E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01168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2D6B6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828800"/>
            <a:ext cx="4251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Chápať, ako generatívna AI funguje a kde môže zlyhať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AF6E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201168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2D6B6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011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178040" y="1828800"/>
            <a:ext cx="4251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Kriticky hodnotiť obsah AI — overovať fakty a zdroje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127248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AF6EF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447288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2D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472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08760" y="3264408"/>
            <a:ext cx="4251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Podporovať žiakov so špecifickými výchovno-vzdelávacími potrebami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3127248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AF6EF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3447288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2D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34472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178040" y="3264408"/>
            <a:ext cx="4251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Začleniť AI a digitálnu gramotnosť do medzipredmetových hodín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562856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AF6EF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882896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2D6B6B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88289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08760" y="4700016"/>
            <a:ext cx="4251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Pestovať v triede kultúru zvedavosti a overovania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4562856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AF6EF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0" y="4882896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2D6B6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88289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178040" y="4700016"/>
            <a:ext cx="4251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Sledovať rýchly vývoj AI technológií a foriem dezinformácií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Digitálny Kabinet  ·  Zhrnutie usmernení EK proti dezinformáciám (2026)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NOVÁ TÉMA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Platformy sociálnych médií a influenceri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Platformy nevytvárajú obsah — hosťujú a šíria to, čo nahrajú používatelia. Dôveryhodnosť preto nespočíva v platforme, ale v tvorcovi obsahu a kontexte.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A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606040"/>
            <a:ext cx="292608" cy="292608"/>
          </a:xfrm>
          <a:prstGeom prst="ellipse">
            <a:avLst/>
          </a:prstGeom>
          <a:solidFill>
            <a:srgbClr val="4A9B9B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990088"/>
            <a:ext cx="3209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Informačné kanály riadené personalizačnými algoritmami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4325112" y="242316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2606040"/>
            <a:ext cx="292608" cy="292608"/>
          </a:xfrm>
          <a:prstGeom prst="ellipse">
            <a:avLst/>
          </a:prstGeom>
          <a:solidFill>
            <a:srgbClr val="4A9B9B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2990088"/>
            <a:ext cx="3209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Obsah vytvorený používateľmi — publikovať môže ktokoľvek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8101584" y="242316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A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02752" y="2606040"/>
            <a:ext cx="292608" cy="292608"/>
          </a:xfrm>
          <a:prstGeom prst="ellipse">
            <a:avLst/>
          </a:prstGeom>
          <a:solidFill>
            <a:srgbClr val="4A9B9B"/>
          </a:solidFill>
          <a:ln/>
        </p:spPr>
      </p:sp>
      <p:sp>
        <p:nvSpPr>
          <p:cNvPr id="13" name="Text 11"/>
          <p:cNvSpPr/>
          <p:nvPr/>
        </p:nvSpPr>
        <p:spPr>
          <a:xfrm>
            <a:off x="8302752" y="2990088"/>
            <a:ext cx="3209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Rýchle šírenie bez ohľadu na presnosť či dôveryhodnosť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A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4251960"/>
            <a:ext cx="292608" cy="292608"/>
          </a:xfrm>
          <a:prstGeom prst="ellipse">
            <a:avLst/>
          </a:prstGeom>
          <a:solidFill>
            <a:srgbClr val="4A9B9B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4636008"/>
            <a:ext cx="3209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Komerčné záujmy (reklama, partnerstvá) určujú, čo sa propaguje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4325112" y="406908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A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26280" y="4251960"/>
            <a:ext cx="292608" cy="292608"/>
          </a:xfrm>
          <a:prstGeom prst="ellipse">
            <a:avLst/>
          </a:prstGeom>
          <a:solidFill>
            <a:srgbClr val="4A9B9B"/>
          </a:solidFill>
          <a:ln/>
        </p:spPr>
      </p:sp>
      <p:sp>
        <p:nvSpPr>
          <p:cNvPr id="19" name="Text 17"/>
          <p:cNvSpPr/>
          <p:nvPr/>
        </p:nvSpPr>
        <p:spPr>
          <a:xfrm>
            <a:off x="4526280" y="4636008"/>
            <a:ext cx="3209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Zodpovednosť za overovanie zdrojov nesie väčšinou používateľ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8101584" y="406908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A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02752" y="4251960"/>
            <a:ext cx="292608" cy="292608"/>
          </a:xfrm>
          <a:prstGeom prst="ellipse">
            <a:avLst/>
          </a:prstGeom>
          <a:solidFill>
            <a:srgbClr val="4A9B9B"/>
          </a:solidFill>
          <a:ln/>
        </p:spPr>
      </p:sp>
      <p:sp>
        <p:nvSpPr>
          <p:cNvPr id="22" name="Text 20"/>
          <p:cNvSpPr/>
          <p:nvPr/>
        </p:nvSpPr>
        <p:spPr>
          <a:xfrm>
            <a:off x="8302752" y="4636008"/>
            <a:ext cx="3209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Influenceri formujú trendy, názory aj verejnú diskusiu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Digitálny Kabinet  ·  Zhrnutie usmernení EK proti dezinformáciám (2026)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NOVÁ TÉMA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Prebunking vs. Debunking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2D6B6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PREBUNKING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Vopred varovať pred manipulatívnymi technikami — budovať odolnosť skôr, než sa žiak s dezinformáciou stretne.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520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„Prevencia je lepšia ako liečba“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41148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D9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Kedy: pred stretnutím s dezinformáciou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AF6EF"/>
          </a:solidFill>
          <a:ln w="12700">
            <a:solidFill>
              <a:srgbClr val="DCEA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965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DEBUNKING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680" y="246888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Vyvrátenie nepravdivého tvrdenia po tom, čo sa už objavilo — cieľom je opraviť ho a zabrániť ďalšiemu šíreniu.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3520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Overovanie faktov ako nástroj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0" y="41148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Kedy: po výskyte dezinformácie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Digitálny Kabinet  ·  Zhrnutie usmernení EK proti dezinformáciám (2026)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SYSTÉMOVÁ ZMENA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Odporúčania pre vedenie škôl a tvorcov politík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347472" cy="347472"/>
          </a:xfrm>
          <a:prstGeom prst="ellipse">
            <a:avLst/>
          </a:prstGeom>
          <a:solidFill>
            <a:srgbClr val="2D6B6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691640"/>
            <a:ext cx="10149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Podporiť celoškolský prístup — zapojiť knihovníkov, psychológov, rodiny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EFF6F2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560320"/>
            <a:ext cx="347472" cy="347472"/>
          </a:xfrm>
          <a:prstGeom prst="ellipse">
            <a:avLst/>
          </a:prstGeom>
          <a:solidFill>
            <a:srgbClr val="2D6B6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603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423160"/>
            <a:ext cx="10149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Zabezpečiť priebežné vzdelávanie učiteľov v digitálnej a AI gramotnosti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291840"/>
            <a:ext cx="347472" cy="347472"/>
          </a:xfrm>
          <a:prstGeom prst="ellipse">
            <a:avLst/>
          </a:prstGeom>
          <a:solidFill>
            <a:srgbClr val="2D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291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3154680"/>
            <a:ext cx="10149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Vytvoriť jasné protokoly ochrany detí a nahlasovania rizikového obsahu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EFF6F2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023360"/>
            <a:ext cx="347472" cy="347472"/>
          </a:xfrm>
          <a:prstGeom prst="ellipse">
            <a:avLst/>
          </a:prstGeom>
          <a:solidFill>
            <a:srgbClr val="2D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233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886200"/>
            <a:ext cx="10149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Hľadať miestne, národné a medzinárodné zdroje financovania (napr. Erasmus+)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754880"/>
            <a:ext cx="347472" cy="347472"/>
          </a:xfrm>
          <a:prstGeom prst="ellipse">
            <a:avLst/>
          </a:prstGeom>
          <a:solidFill>
            <a:srgbClr val="2D6B6B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754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4617720"/>
            <a:ext cx="10149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Sledovať politické iniciatívy EÚ (Kódex postupov proti dezinformáciám, DSA, AI Act)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EFF6F2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486400"/>
            <a:ext cx="347472" cy="347472"/>
          </a:xfrm>
          <a:prstGeom prst="ellipse">
            <a:avLst/>
          </a:prstGeom>
          <a:solidFill>
            <a:srgbClr val="2D6B6B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486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25880" y="5349240"/>
            <a:ext cx="10149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Podporovať spoluprácu s vysokými školami, novinármi a mimovládnymi organizáciami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Digitálny Kabinet  ·  Zhrnutie usmernení EK proti dezinformáciám (2026)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PRAKTICKÝ NÁSTROJ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Pripravené aktivity priamo pre vašu triedu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2D6B6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pripravených aktivít do vyučovania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60520" y="169164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4A9B9B"/>
          </a:solidFill>
          <a:ln/>
        </p:spPr>
      </p:sp>
      <p:sp>
        <p:nvSpPr>
          <p:cNvPr id="8" name="Text 6"/>
          <p:cNvSpPr/>
          <p:nvPr/>
        </p:nvSpPr>
        <p:spPr>
          <a:xfrm>
            <a:off x="4160520" y="182880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389120" y="26974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praktických tipov pre učiteľov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0" y="169164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182880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D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001000" y="26974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vzorové plány celých vyučovacích hodín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Príklady aktivít z dokumentu: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4206240"/>
            <a:ext cx="11064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výzva — žiaci porovnávajú skutočné a AI upravené video a hľadajú indície manipulácie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Učte robota! — hra, v ktorej žiaci ako „tréneri“ vysvetľujú AI, ako sa učiť z príkladov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Preskúmajte viaceré perspektívy — analýza historickej udalosti z pohľadu rôznych strán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Sledujte svoju digitálnu stopu — reflexia nad tým, aké dáta o sebe žiaci zdieľajú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Digitálny Kabinet  ·  Zhrnutie usmernení EK proti dezinformáciám (2026)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D6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3F8A87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114800"/>
            <a:ext cx="4572000" cy="4572000"/>
          </a:xfrm>
          <a:prstGeom prst="ellipse">
            <a:avLst/>
          </a:prstGeom>
          <a:solidFill>
            <a:srgbClr val="3F8A87"/>
          </a:solidFill>
          <a:ln/>
        </p:spPr>
      </p:sp>
      <p:pic>
        <p:nvPicPr>
          <p:cNvPr id="4" name="Image 0" descr="/home/claude/eu_dezinfo/d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411480"/>
            <a:ext cx="777240" cy="777240"/>
          </a:xfrm>
          <a:prstGeom prst="rect">
            <a:avLst/>
          </a:prstGeom>
          <a:effectLst>
            <a:outerShdw sx="100000" sy="100000" kx="0" ky="0" algn="bl" rotWithShape="0" blurRad="127000" dist="50800" dir="5400000">
              <a:srgbClr val="0A2620">
                <a:alpha val="3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ZDROJE A ĎALŠIA PODPORA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8229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Kam sa obrátiť ďalej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3F8A87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28216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Internet for Kids (BIK+)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205740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Centrá pre bezpečnejší internet vo všetkých jazykoch EÚ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309360" y="164592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3F8A87"/>
          </a:solidFill>
          <a:ln/>
        </p:spPr>
      </p:sp>
      <p:sp>
        <p:nvSpPr>
          <p:cNvPr id="11" name="Text 8"/>
          <p:cNvSpPr/>
          <p:nvPr/>
        </p:nvSpPr>
        <p:spPr>
          <a:xfrm>
            <a:off x="6537960" y="1728216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EDMO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537960" y="205740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Európske stredisko pre monitorovanie digitálnych médií — overovanie faktov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0080" y="2615184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3F8A87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269748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eTwinning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68680" y="302666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 pre spoluprácu škôl na projektoch digitálnej gramotnosti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309360" y="2615184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3F8A87"/>
          </a:solidFill>
          <a:ln/>
        </p:spPr>
      </p:sp>
      <p:sp>
        <p:nvSpPr>
          <p:cNvPr id="17" name="Text 14"/>
          <p:cNvSpPr/>
          <p:nvPr/>
        </p:nvSpPr>
        <p:spPr>
          <a:xfrm>
            <a:off x="6537960" y="269748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Rámec gramotnosti v oblasti AI (EK + OECD)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537960" y="302666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Kompetencie pre základné a stredné školy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0080" y="3584448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3F8A87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80" y="3666744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DigCompEdu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68680" y="399592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Rámec digitálnych kompetencií pre pedagógov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309360" y="3584448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3F8A87"/>
          </a:solidFill>
          <a:ln/>
        </p:spPr>
      </p:sp>
      <p:sp>
        <p:nvSpPr>
          <p:cNvPr id="23" name="Text 20"/>
          <p:cNvSpPr/>
          <p:nvPr/>
        </p:nvSpPr>
        <p:spPr>
          <a:xfrm>
            <a:off x="6537960" y="3666744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Kódex postupov EÚ proti dezinformáciám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537960" y="399592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Politický nástroj EÚ z roku 2025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40080" y="4709160"/>
            <a:ext cx="10881360" cy="0"/>
          </a:xfrm>
          <a:prstGeom prst="line">
            <a:avLst/>
          </a:prstGeom>
          <a:noFill/>
          <a:ln w="12700">
            <a:solidFill>
              <a:srgbClr val="3F8A8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486460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 TOHTO ZHRNUTIA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0080" y="513892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B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Commission, Directorate-General for Education, Youth, Sport and Culture — Aktualizované usmernenia pre učiteľov a pedagógov týkajúce sa boja proti dezinformáciám a podpore digitálnej gramotnosti prostredníctvom vzdelávania a odbornej prípravy. Revidované vydanie. Luxemburg: Úrad pre vydávanie publikácií Európskej únie, 2026. doi:10.2766/0289597 · Licencia CC BY 4.0 · op.europa.eu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40080" y="5870448"/>
            <a:ext cx="10881360" cy="658368"/>
          </a:xfrm>
          <a:prstGeom prst="roundRect">
            <a:avLst>
              <a:gd name="adj" fmla="val 8333"/>
            </a:avLst>
          </a:prstGeom>
          <a:solidFill>
            <a:srgbClr val="3F8A87"/>
          </a:solidFill>
          <a:ln/>
        </p:spPr>
      </p:sp>
      <p:sp>
        <p:nvSpPr>
          <p:cNvPr id="29" name="Text 26"/>
          <p:cNvSpPr/>
          <p:nvPr/>
        </p:nvSpPr>
        <p:spPr>
          <a:xfrm>
            <a:off x="868680" y="5870448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Táto prezentácia bola vytvorená s pomocou AI (Claude, Anthropic) pod odborným dohľadom a redakčnou supervíziou PaedDr. Viviány Bielikovej, predsedníčky Digitálny Kabinet, o.z.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2026-08-08T13:45:53Z</dcterms:created>
  <dcterms:modified xsi:type="dcterms:W3CDTF">2026-08-08T13:45:53Z</dcterms:modified>
</cp:coreProperties>
</file>